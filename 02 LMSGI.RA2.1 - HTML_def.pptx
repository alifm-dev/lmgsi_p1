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  <p:embeddedFont>
      <p:font typeface="Outfit"/>
      <p:regular r:id="rId32"/>
      <p:bold r:id="rId33"/>
    </p:embeddedFont>
    <p:embeddedFont>
      <p:font typeface="Outfit SemiBold"/>
      <p:regular r:id="rId34"/>
      <p:bold r:id="rId35"/>
    </p:embeddedFont>
    <p:embeddedFont>
      <p:font typeface="Roboto Mono"/>
      <p:regular r:id="rId36"/>
      <p:bold r:id="rId37"/>
      <p:italic r:id="rId38"/>
      <p:boldItalic r:id="rId39"/>
    </p:embeddedFont>
    <p:embeddedFont>
      <p:font typeface="Nunito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E7EC61-2CCD-4BAE-9502-7F360FFDC918}">
  <a:tblStyle styleId="{69E7EC61-2CCD-4BAE-9502-7F360FFDC9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Light-regular.fntdata"/><Relationship Id="rId20" Type="http://schemas.openxmlformats.org/officeDocument/2006/relationships/slide" Target="slides/slide14.xml"/><Relationship Id="rId42" Type="http://schemas.openxmlformats.org/officeDocument/2006/relationships/font" Target="fonts/NunitoLight-italic.fntdata"/><Relationship Id="rId41" Type="http://schemas.openxmlformats.org/officeDocument/2006/relationships/font" Target="fonts/NunitoLigh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NunitoLigh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uni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5.xml"/><Relationship Id="rId33" Type="http://schemas.openxmlformats.org/officeDocument/2006/relationships/font" Target="fonts/Outfit-bold.fntdata"/><Relationship Id="rId10" Type="http://schemas.openxmlformats.org/officeDocument/2006/relationships/slide" Target="slides/slide4.xml"/><Relationship Id="rId32" Type="http://schemas.openxmlformats.org/officeDocument/2006/relationships/font" Target="fonts/Outfit-regular.fntdata"/><Relationship Id="rId13" Type="http://schemas.openxmlformats.org/officeDocument/2006/relationships/slide" Target="slides/slide7.xml"/><Relationship Id="rId35" Type="http://schemas.openxmlformats.org/officeDocument/2006/relationships/font" Target="fonts/OutfitSemiBold-bold.fntdata"/><Relationship Id="rId12" Type="http://schemas.openxmlformats.org/officeDocument/2006/relationships/slide" Target="slides/slide6.xml"/><Relationship Id="rId34" Type="http://schemas.openxmlformats.org/officeDocument/2006/relationships/font" Target="fonts/Outfit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fcd9980d8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fcd9980d8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fcd9980d8_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fcd9980d8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6e831f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a6e831f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6e831f4b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6e831f4b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fcd9980d8_4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fcd9980d8_4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6e831f4b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a6e831f4b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6e831f4b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a6e831f4b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6e831f4b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a6e831f4b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a6e831f4b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a6e831f4b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6e831f4b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a6e831f4b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87cd52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a87cd52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87cd522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a87cd522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a87cd522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a87cd522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a87cd522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a87cd522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a87cd522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a87cd522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a6e831f4b_1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a6e831f4b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a87cd522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a87cd522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a87cd522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a87cd522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a87cd522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a87cd522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87cd522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a87cd522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0" y="687536"/>
            <a:ext cx="8520600" cy="10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675" y="2233325"/>
            <a:ext cx="85206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61C9"/>
              </a:buClr>
              <a:buSzPts val="4800"/>
              <a:buFont typeface="Outfit SemiBold"/>
              <a:buNone/>
              <a:defRPr sz="4800">
                <a:solidFill>
                  <a:srgbClr val="5961C9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4037175"/>
            <a:ext cx="1880607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14531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037175"/>
            <a:ext cx="1880607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440000"/>
            <a:ext cx="85206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9pPr>
          </a:lstStyle>
          <a:p/>
        </p:txBody>
      </p:sp>
      <p:sp>
        <p:nvSpPr>
          <p:cNvPr id="17" name="Google Shape;17;p4"/>
          <p:cNvSpPr/>
          <p:nvPr/>
        </p:nvSpPr>
        <p:spPr>
          <a:xfrm>
            <a:off x="125" y="-8700"/>
            <a:ext cx="9144000" cy="1005600"/>
          </a:xfrm>
          <a:prstGeom prst="rect">
            <a:avLst/>
          </a:prstGeom>
          <a:solidFill>
            <a:srgbClr val="596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C1F9C"/>
              </a:solidFill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3327900" cy="5143500"/>
          </a:xfrm>
          <a:prstGeom prst="rect">
            <a:avLst/>
          </a:prstGeom>
          <a:solidFill>
            <a:srgbClr val="596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440000"/>
            <a:ext cx="3999900" cy="31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3443800" y="555600"/>
            <a:ext cx="2846700" cy="31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537358" y="45252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" name="Google Shape;25;p5"/>
          <p:cNvSpPr txBox="1"/>
          <p:nvPr>
            <p:ph idx="3" type="body"/>
          </p:nvPr>
        </p:nvSpPr>
        <p:spPr>
          <a:xfrm>
            <a:off x="6290500" y="555600"/>
            <a:ext cx="2808000" cy="41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37358" y="45252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125" y="-8700"/>
            <a:ext cx="9144000" cy="1005600"/>
          </a:xfrm>
          <a:prstGeom prst="rect">
            <a:avLst/>
          </a:prstGeom>
          <a:solidFill>
            <a:srgbClr val="596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3327900" cy="5143500"/>
          </a:xfrm>
          <a:prstGeom prst="rect">
            <a:avLst/>
          </a:prstGeom>
          <a:solidFill>
            <a:srgbClr val="596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4400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125" y="-8700"/>
            <a:ext cx="4532100" cy="5143500"/>
          </a:xfrm>
          <a:prstGeom prst="rect">
            <a:avLst/>
          </a:prstGeom>
          <a:solidFill>
            <a:srgbClr val="596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788850" y="506000"/>
            <a:ext cx="3828300" cy="37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75550" y="40581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bg>
      <p:bgPr>
        <a:solidFill>
          <a:srgbClr val="3B3DF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1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4800"/>
              <a:buNone/>
              <a:defRPr sz="4800">
                <a:solidFill>
                  <a:srgbClr val="30EFBC"/>
                </a:solidFill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EFBC"/>
              </a:buClr>
              <a:buSzPts val="2400"/>
              <a:buNone/>
              <a:defRPr sz="2400">
                <a:solidFill>
                  <a:srgbClr val="30EFBC"/>
                </a:solidFill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SemiBold"/>
              <a:buNone/>
              <a:defRPr sz="28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  <a:defRPr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−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3schools.com/html/html_basic.asp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3schools.com/html/html_headings.asp" TargetMode="External"/><Relationship Id="rId4" Type="http://schemas.openxmlformats.org/officeDocument/2006/relationships/hyperlink" Target="https://www.w3schools.com/html/html_headings.asp" TargetMode="External"/><Relationship Id="rId5" Type="http://schemas.openxmlformats.org/officeDocument/2006/relationships/hyperlink" Target="https://www.w3schools.com/html/html_paragraphs.as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w3schools.com/html/html_formatting.as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w3schools.com/html/html_links.asp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schools.com/html/html_images.asp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3schools.com/html/html_lists.asp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w3schools.com/html/html_tables.asp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w3schools.com/html/html_forms.asp" TargetMode="External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schools.com/html/html_forms.as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3schools.com/html/html_forms.asp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w3schools.com/html/html_forms.as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w3schools.com/html/html_layout.as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w3schools.com/html/html_layout.asp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w3schools.com/html/html_layout.asp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w3schools.com/html/html_layout.asp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w3schools.com/html/html_layout.asp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739875" y="1591325"/>
            <a:ext cx="750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0" y="687536"/>
            <a:ext cx="8520600" cy="10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M0373 - </a:t>
            </a:r>
            <a:r>
              <a:rPr lang="ca"/>
              <a:t>Llenguatges de marques i sistemes de gestió d’informació</a:t>
            </a:r>
            <a:endParaRPr/>
          </a:p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675" y="2233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RA2.1 - Introducció a HTML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Introducció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440000"/>
            <a:ext cx="8520600" cy="3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ca" sz="1900">
                <a:latin typeface="Nunito"/>
                <a:ea typeface="Nunito"/>
                <a:cs typeface="Nunito"/>
                <a:sym typeface="Nunito"/>
              </a:rPr>
              <a:t>Html: Hyper Text Markup Language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just">
              <a:spcBef>
                <a:spcPts val="100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ca" sz="1900">
                <a:latin typeface="Nunito"/>
                <a:ea typeface="Nunito"/>
                <a:cs typeface="Nunito"/>
                <a:sym typeface="Nunito"/>
              </a:rPr>
              <a:t>HTTP: </a:t>
            </a:r>
            <a:r>
              <a:rPr b="1" lang="ca" sz="1900">
                <a:latin typeface="Nunito"/>
                <a:ea typeface="Nunito"/>
                <a:cs typeface="Nunito"/>
                <a:sym typeface="Nunito"/>
              </a:rPr>
              <a:t>Hypertext Transfer Protocol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just">
              <a:spcBef>
                <a:spcPts val="100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ca" sz="1900">
                <a:latin typeface="Nunito"/>
                <a:ea typeface="Nunito"/>
                <a:cs typeface="Nunito"/>
                <a:sym typeface="Nunito"/>
              </a:rPr>
              <a:t>El navegador </a:t>
            </a:r>
            <a:r>
              <a:rPr b="1" lang="ca" sz="1900">
                <a:latin typeface="Nunito"/>
                <a:ea typeface="Nunito"/>
                <a:cs typeface="Nunito"/>
                <a:sym typeface="Nunito"/>
              </a:rPr>
              <a:t>demana una pàgina a un servidor </a:t>
            </a:r>
            <a:r>
              <a:rPr lang="ca" sz="1900">
                <a:latin typeface="Nunito"/>
                <a:ea typeface="Nunito"/>
                <a:cs typeface="Nunito"/>
                <a:sym typeface="Nunito"/>
              </a:rPr>
              <a:t>(HTTP Request) i </a:t>
            </a:r>
            <a:r>
              <a:rPr b="1" lang="ca" sz="1900">
                <a:latin typeface="Nunito"/>
                <a:ea typeface="Nunito"/>
                <a:cs typeface="Nunito"/>
                <a:sym typeface="Nunito"/>
              </a:rPr>
              <a:t>n’obté una resposta</a:t>
            </a:r>
            <a:r>
              <a:rPr lang="ca" sz="1900">
                <a:latin typeface="Nunito"/>
                <a:ea typeface="Nunito"/>
                <a:cs typeface="Nunito"/>
                <a:sym typeface="Nunito"/>
              </a:rPr>
              <a:t> (HTTP Response) en forma de fitxer amb un </a:t>
            </a:r>
            <a:r>
              <a:rPr b="1" lang="ca" sz="1900">
                <a:latin typeface="Nunito"/>
                <a:ea typeface="Nunito"/>
                <a:cs typeface="Nunito"/>
                <a:sym typeface="Nunito"/>
              </a:rPr>
              <a:t>llenguatge interpetable pel navegador</a:t>
            </a:r>
            <a:r>
              <a:rPr lang="ca" sz="1900">
                <a:latin typeface="Nunito"/>
                <a:ea typeface="Nunito"/>
                <a:cs typeface="Nunito"/>
                <a:sym typeface="Nunito"/>
              </a:rPr>
              <a:t> (HTML, CSS, Javascript,...)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just">
              <a:spcBef>
                <a:spcPts val="100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ca" sz="1900">
                <a:latin typeface="Nunito"/>
                <a:ea typeface="Nunito"/>
                <a:cs typeface="Nunito"/>
                <a:sym typeface="Nunito"/>
              </a:rPr>
              <a:t>El </a:t>
            </a:r>
            <a:r>
              <a:rPr b="1" lang="ca" sz="1900">
                <a:latin typeface="Nunito"/>
                <a:ea typeface="Nunito"/>
                <a:cs typeface="Nunito"/>
                <a:sym typeface="Nunito"/>
              </a:rPr>
              <a:t>navegador representa aquesta informació</a:t>
            </a:r>
            <a:r>
              <a:rPr lang="ca" sz="1900">
                <a:latin typeface="Nunito"/>
                <a:ea typeface="Nunito"/>
                <a:cs typeface="Nunito"/>
                <a:sym typeface="Nunito"/>
              </a:rPr>
              <a:t> per pantalla mostrant una interfície gràfica i interactiva per a l’usuari.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Introducció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440000"/>
            <a:ext cx="85206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ca">
                <a:latin typeface="Nunito"/>
                <a:ea typeface="Nunito"/>
                <a:cs typeface="Nunito"/>
                <a:sym typeface="Nunito"/>
              </a:rPr>
              <a:t>Neix amb la intenció de modernitzar el llenguatge.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ca">
                <a:latin typeface="Nunito"/>
                <a:ea typeface="Nunito"/>
                <a:cs typeface="Nunito"/>
                <a:sym typeface="Nunito"/>
              </a:rPr>
              <a:t>Incorpora noves funcionalitats multimèdia.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ca">
                <a:latin typeface="Nunito"/>
                <a:ea typeface="Nunito"/>
                <a:cs typeface="Nunito"/>
                <a:sym typeface="Nunito"/>
              </a:rPr>
              <a:t>Simplifica l’ús del codi.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ca">
                <a:latin typeface="Nunito"/>
                <a:ea typeface="Nunito"/>
                <a:cs typeface="Nunito"/>
                <a:sym typeface="Nunito"/>
              </a:rPr>
              <a:t>És l'estàndard més utilitzat avui en dia.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ca">
                <a:latin typeface="Nunito"/>
                <a:ea typeface="Nunito"/>
                <a:cs typeface="Nunito"/>
                <a:sym typeface="Nunito"/>
              </a:rPr>
              <a:t>Fitxer amb format </a:t>
            </a:r>
            <a:r>
              <a:rPr i="1" lang="ca">
                <a:latin typeface="Nunito"/>
                <a:ea typeface="Nunito"/>
                <a:cs typeface="Nunito"/>
                <a:sym typeface="Nunito"/>
              </a:rPr>
              <a:t>.html</a:t>
            </a:r>
            <a:endParaRPr i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440000"/>
            <a:ext cx="3955500" cy="3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Les etiquetes (tags) indiquen com s'estructura i s'organitza el contingut d'una pàgina.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Cada element sol tenir una etiqueta d'obertura i una de tancament: &lt;p&gt;...&lt;/p&gt;.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Algunes etiquetes no es tanquen com &lt;br&gt;, &lt;img&gt;, &lt;hr&gt;...</a:t>
            </a:r>
            <a:endParaRPr/>
          </a:p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Estructura principal d’un document HTML</a:t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4572000" y="1498200"/>
            <a:ext cx="4153800" cy="2912400"/>
          </a:xfrm>
          <a:prstGeom prst="roundRect">
            <a:avLst>
              <a:gd fmla="val 2637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62725" lIns="62725" spcFirstLastPara="1" rIns="62725" wrap="square" tIns="6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4762399" y="1686375"/>
            <a:ext cx="37440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50" lIns="62725" spcFirstLastPara="1" rIns="62725" wrap="square" tIns="3135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"en"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"width=device-width, initial-scale=1.0"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&lt;!-- Aquí va tota la web que visualitzarem --&gt;</a:t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26"/>
              <a:buFont typeface="Courier New"/>
              <a:buNone/>
            </a:pPr>
            <a:r>
              <a:t/>
            </a:r>
            <a:endParaRPr sz="926">
              <a:solidFill>
                <a:srgbClr val="F1652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1825916" y="1337976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Declaració de tipus: Indica al navegador que el document és HTML5.</a:t>
            </a:r>
            <a:endParaRPr sz="1367"/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Estructura principal d’un document HTML</a:t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77925" y="1337975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77925" y="1337975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i="0" lang="ca" sz="1119" u="none" cap="none" strike="noStrike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77925" y="1962367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77925" y="1962367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i="0" lang="ca" sz="1119" u="none" cap="none" strike="noStrike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77925" y="2586759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77925" y="2586759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i="0" lang="ca" sz="1119" u="none" cap="none" strike="noStrike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477925" y="3211151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77925" y="3211151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i="0" lang="ca" sz="1119" u="none" cap="none" strike="noStrike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77925" y="3835543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77925" y="3835543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&lt;meta&gt;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1825916" y="1962374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ca" sz="1357"/>
              <a:t>Element arrel: Conté tot el contingut de la pàgina.</a:t>
            </a:r>
            <a:endParaRPr sz="1357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1825916" y="2586771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Capçalera</a:t>
            </a:r>
            <a:r>
              <a:rPr lang="ca" sz="1367"/>
              <a:t>: </a:t>
            </a:r>
            <a:r>
              <a:rPr lang="ca" sz="1367"/>
              <a:t>Metadades: títol, enllaços a CSS, codificació de caràcters.</a:t>
            </a:r>
            <a:endParaRPr sz="1367"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1825916" y="3211169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Títol de la pestanya: Text que es mostra a la pestanya del navegador.</a:t>
            </a:r>
            <a:endParaRPr sz="1367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1825925" y="3795130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Configuració: Dona informació de la pàgina a navegadors (idioma, descripció, SEO, responsive…)</a:t>
            </a:r>
            <a:endParaRPr sz="1367"/>
          </a:p>
        </p:txBody>
      </p:sp>
      <p:sp>
        <p:nvSpPr>
          <p:cNvPr id="101" name="Google Shape;101;p18"/>
          <p:cNvSpPr/>
          <p:nvPr/>
        </p:nvSpPr>
        <p:spPr>
          <a:xfrm>
            <a:off x="477925" y="4459968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77925" y="4459968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1825916" y="4459991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Cos del document: Tot el contingut visible: text, imatges, enllaços…</a:t>
            </a:r>
            <a:endParaRPr sz="1367"/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6662175" y="207750"/>
            <a:ext cx="217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W3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210450" y="883750"/>
            <a:ext cx="872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Capçaleres i paràgrafs</a:t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518325" y="1314850"/>
            <a:ext cx="2647500" cy="3622200"/>
          </a:xfrm>
          <a:prstGeom prst="roundRect">
            <a:avLst>
              <a:gd fmla="val 2985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884075" y="149773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3400"/>
              <a:buFont typeface="Arial"/>
              <a:buNone/>
            </a:pPr>
            <a:r>
              <a:rPr b="1" i="0" lang="ca" sz="3400" u="none" cap="none" strike="noStrike">
                <a:solidFill>
                  <a:srgbClr val="1B1F27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255675" y="1497725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884075" y="204637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900"/>
              <a:buFont typeface="Arial"/>
              <a:buNone/>
            </a:pPr>
            <a:r>
              <a:rPr b="1" i="0" lang="ca" sz="2900" u="none" cap="none" strike="noStrike">
                <a:solidFill>
                  <a:srgbClr val="1B1F27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255675" y="2046365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&lt;h2&gt;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884075" y="2567578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500"/>
              <a:buFont typeface="Arial"/>
              <a:buNone/>
            </a:pPr>
            <a:r>
              <a:rPr b="1" i="0" lang="ca" sz="2500" u="none" cap="none" strike="noStrike">
                <a:solidFill>
                  <a:srgbClr val="1B1F27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255675" y="2567572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&lt;h3&gt;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884075" y="305221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100"/>
              <a:buFont typeface="Arial"/>
              <a:buNone/>
            </a:pPr>
            <a:r>
              <a:rPr b="1" i="0" lang="ca" sz="2100" u="none" cap="none" strike="noStrike">
                <a:solidFill>
                  <a:srgbClr val="1B1F27"/>
                </a:solidFill>
                <a:latin typeface="Arial"/>
                <a:ea typeface="Arial"/>
                <a:cs typeface="Arial"/>
                <a:sym typeface="Arial"/>
              </a:rPr>
              <a:t>H4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255675" y="3052204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&lt;h4&gt;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884075" y="3481978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1F27"/>
                </a:solidFill>
                <a:latin typeface="Arial"/>
                <a:ea typeface="Arial"/>
                <a:cs typeface="Arial"/>
                <a:sym typeface="Arial"/>
              </a:rPr>
              <a:t>H5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255675" y="3481972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&lt;h5&gt;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884075" y="3856882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B1F27"/>
                </a:solidFill>
                <a:latin typeface="Arial"/>
                <a:ea typeface="Arial"/>
                <a:cs typeface="Arial"/>
                <a:sym typeface="Arial"/>
              </a:rPr>
              <a:t>H6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255675" y="3856875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&lt;h6&gt;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7723199" y="2905900"/>
            <a:ext cx="1067100" cy="12306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605975" y="1418150"/>
            <a:ext cx="5184300" cy="32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575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530"/>
              <a:buChar char="●"/>
            </a:pPr>
            <a:r>
              <a:rPr lang="ca" sz="1530"/>
              <a:t>Hi ha sis nivells de capçalera: des &lt;h1&gt; (el més important) fins a &lt;h6&gt;.</a:t>
            </a:r>
            <a:endParaRPr sz="1530"/>
          </a:p>
          <a:p>
            <a:pPr indent="-325755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530"/>
              <a:buChar char="●"/>
            </a:pPr>
            <a:r>
              <a:rPr lang="ca" sz="1530"/>
              <a:t>Bona pràctica: fer servir un únic &lt;h1&gt; per pàgina i mantenir l'ordre jeràrquic. És important pel posicionament Web.</a:t>
            </a:r>
            <a:endParaRPr sz="1530"/>
          </a:p>
          <a:p>
            <a:pPr indent="-325755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530"/>
              <a:buChar char="●"/>
            </a:pPr>
            <a:r>
              <a:rPr lang="ca" sz="1530"/>
              <a:t>El text de contingut general s'escriu dins de paràgrafs amb &lt;p&gt;.</a:t>
            </a:r>
            <a:endParaRPr sz="1530"/>
          </a:p>
          <a:p>
            <a:pPr indent="-325755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SzPts val="1530"/>
              <a:buChar char="●"/>
            </a:pPr>
            <a:r>
              <a:rPr lang="ca" sz="1530"/>
              <a:t>Els navegadors apliquen mides per defecte, però es poden personalitzar amb CSS.</a:t>
            </a:r>
            <a:endParaRPr sz="1530"/>
          </a:p>
        </p:txBody>
      </p:sp>
      <p:sp>
        <p:nvSpPr>
          <p:cNvPr id="126" name="Google Shape;126;p19"/>
          <p:cNvSpPr txBox="1"/>
          <p:nvPr/>
        </p:nvSpPr>
        <p:spPr>
          <a:xfrm>
            <a:off x="884075" y="4211957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B1F27"/>
                </a:solidFill>
              </a:rPr>
              <a:t>p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2255675" y="4211950"/>
            <a:ext cx="64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D26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ca" sz="1300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ca" sz="1300" u="none" cap="none" strike="noStrike">
                <a:solidFill>
                  <a:srgbClr val="E44D26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5762675" y="50526"/>
            <a:ext cx="2940600" cy="8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</a:t>
            </a:r>
            <a:r>
              <a:rPr lang="ca" sz="2220" u="sng">
                <a:solidFill>
                  <a:schemeClr val="hlink"/>
                </a:solidFill>
                <a:hlinkClick r:id="rId4"/>
              </a:rPr>
              <a:t> (headings)</a:t>
            </a:r>
            <a:endParaRPr sz="222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5"/>
              </a:rPr>
              <a:t>W3 (paragraphs)</a:t>
            </a:r>
            <a:endParaRPr sz="22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1825925" y="1268875"/>
            <a:ext cx="7006500" cy="11316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Les etiquetes </a:t>
            </a:r>
            <a:r>
              <a:rPr lang="ca" sz="1367"/>
              <a:t>&lt;strong&gt; o &lt;b&gt; serveixen per posar el text en negreta. Visualment ambdós fan el mateix però l’etiqueta &lt;strong&gt; dona èmfasi al text, de manera que els navegadors interpreten que és un text important i es té en compte pels lectors de navegador, pel SEO i pels cercadors</a:t>
            </a:r>
            <a:endParaRPr sz="13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/>
          </a:p>
        </p:txBody>
      </p:sp>
      <p:sp>
        <p:nvSpPr>
          <p:cNvPr id="135" name="Google Shape;135;p20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Format</a:t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477925" y="1337976"/>
            <a:ext cx="1020900" cy="8910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459475" y="1337975"/>
            <a:ext cx="1039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400"/>
              <a:buFont typeface="Courier New"/>
              <a:buNone/>
            </a:pPr>
            <a:r>
              <a:rPr b="1" lang="ca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&lt;strong&gt;</a:t>
            </a:r>
            <a:endParaRPr b="1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400"/>
              <a:buFont typeface="Courier New"/>
              <a:buNone/>
            </a:pPr>
            <a:r>
              <a:t/>
            </a:r>
            <a:endParaRPr b="1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400"/>
              <a:buFont typeface="Courier New"/>
              <a:buNone/>
            </a:pPr>
            <a:r>
              <a:rPr b="1" lang="ca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&lt;b&gt;</a:t>
            </a:r>
            <a:endParaRPr b="1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477925" y="3835576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477925" y="3835576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&lt;br&gt;</a:t>
            </a:r>
            <a:endParaRPr b="1" sz="1119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477925" y="4459968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477925" y="4459968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&lt;hr&gt;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1825928" y="3777513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Salt de línia: Trenca la línia sense crear un nou paràgraf. Aquesta etiqueta és simple, és a dir no s’ha d’obrir i tancar.</a:t>
            </a:r>
            <a:endParaRPr sz="1367"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1825925" y="4419555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Separador: Línia horitzontal que separa blocs de contingut. </a:t>
            </a:r>
            <a:r>
              <a:rPr lang="ca" sz="1367"/>
              <a:t>Aquesta etiqueta és simple, és a dir no s’ha d’obrir i tancar</a:t>
            </a:r>
            <a:endParaRPr sz="136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/>
          </a:p>
        </p:txBody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(formatting)</a:t>
            </a:r>
            <a:endParaRPr sz="2220"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1825925" y="2586775"/>
            <a:ext cx="7006500" cy="8910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Les etiquetes </a:t>
            </a:r>
            <a:r>
              <a:rPr lang="ca" sz="1367"/>
              <a:t>&lt;em&gt; o &lt;i&gt; serveixen per posar el text en cursiva. Passa el mateix que amb les etiquetes anteriors però en aquest cas és l’etiqueta &lt;em&gt; la que dona èmfasi al text mentre que &lt;i&gt; és només visual.</a:t>
            </a:r>
            <a:endParaRPr sz="1367"/>
          </a:p>
        </p:txBody>
      </p:sp>
      <p:sp>
        <p:nvSpPr>
          <p:cNvPr id="146" name="Google Shape;146;p20"/>
          <p:cNvSpPr/>
          <p:nvPr/>
        </p:nvSpPr>
        <p:spPr>
          <a:xfrm>
            <a:off x="477925" y="2586776"/>
            <a:ext cx="1020900" cy="8910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77930" y="2586777"/>
            <a:ext cx="10209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400"/>
              <a:buFont typeface="Courier New"/>
              <a:buNone/>
            </a:pPr>
            <a:r>
              <a:rPr b="1" lang="ca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&lt;em&gt;</a:t>
            </a:r>
            <a:endParaRPr b="1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400"/>
              <a:buFont typeface="Courier New"/>
              <a:buNone/>
            </a:pPr>
            <a:r>
              <a:t/>
            </a:r>
            <a:endParaRPr b="1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400"/>
              <a:buFont typeface="Courier New"/>
              <a:buNone/>
            </a:pPr>
            <a:r>
              <a:rPr b="1" lang="ca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&lt;i&gt;</a:t>
            </a:r>
            <a:endParaRPr b="1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Exemple</a:t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160400" y="1088525"/>
            <a:ext cx="4294200" cy="3971700"/>
          </a:xfrm>
          <a:prstGeom prst="roundRect">
            <a:avLst>
              <a:gd fmla="val 2637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242150" y="1194425"/>
            <a:ext cx="4130700" cy="3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3350" lIns="86750" spcFirstLastPara="1" rIns="86750" wrap="square" tIns="43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"en"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"width=device-width, initial-scale=1.0"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La meva primera pàgina web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DAM DAW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Llenguatge de marques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Institut TIC de Barcelona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Lorem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ipsum dolor sit amet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consectetur adipiscing elit.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Phasellus et purus porttitor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, iaculis dolor eu, tempor ex. Proin mattis elit sed ipsum ultricies, sit amet ultrices est malesuada. Proin efficitur pellentesque viverra.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Integer dignissim metus vitae feugiat blandit. Mauris ut mi et urna ullamcorper faucibus nec non ante.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281"/>
              <a:buFont typeface="Courier New"/>
              <a:buNone/>
            </a:pPr>
            <a:r>
              <a:t/>
            </a:r>
            <a:endParaRPr sz="8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850" y="1647738"/>
            <a:ext cx="4384601" cy="285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311700" y="1440000"/>
            <a:ext cx="42603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Converteix text o imatges en un enllaç clicable cap a un altre recurs, dins o fora del lloc web.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L'atribut </a:t>
            </a:r>
            <a:r>
              <a:rPr b="1" lang="ca"/>
              <a:t>href </a:t>
            </a:r>
            <a:r>
              <a:rPr lang="ca"/>
              <a:t>indica la URL de destinació de l'enllaç.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Pot enllaçar a pàgines externes, internes o a seccions de la mateixa pàgina (#id).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target="_blank" obre l'enllaç en una pestanya nova.</a:t>
            </a:r>
            <a:endParaRPr/>
          </a:p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</a:t>
            </a:r>
            <a:r>
              <a:rPr lang="ca"/>
              <a:t>Element d'ancoratge (links)</a:t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4860000" y="1440000"/>
            <a:ext cx="4036200" cy="7674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5091598" y="1653666"/>
            <a:ext cx="3573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200"/>
              <a:buFont typeface="Courier New"/>
              <a:buNone/>
            </a:pPr>
            <a:r>
              <a:rPr b="0" i="0" lang="ca" sz="1200" u="none" cap="none" strike="noStrike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ca" sz="1200" u="none" cap="none" strike="noStrike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ca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ca" sz="1200" u="none" cap="none" strike="noStrike">
                <a:solidFill>
                  <a:srgbClr val="8FD3F4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ca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ca" sz="1200" u="none" cap="none" strike="noStrike">
                <a:solidFill>
                  <a:srgbClr val="B7E6A6"/>
                </a:solidFill>
                <a:latin typeface="Courier New"/>
                <a:ea typeface="Courier New"/>
                <a:cs typeface="Courier New"/>
                <a:sym typeface="Courier New"/>
              </a:rPr>
              <a:t>"https://www.w3.org"</a:t>
            </a:r>
            <a:r>
              <a:rPr b="0" i="0" lang="ca" sz="1200" u="none" cap="none" strike="noStrike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ca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W3C</a:t>
            </a:r>
            <a:r>
              <a:rPr b="0" i="0" lang="ca" sz="1200" u="none" cap="none" strike="noStrike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i="0" lang="ca" sz="1200" u="none" cap="none" strike="noStrike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ca" sz="1200" u="none" cap="none" strike="noStrike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(links)</a:t>
            </a:r>
            <a:endParaRPr sz="22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5816825" y="3908500"/>
            <a:ext cx="2821800" cy="7674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311700" y="1440000"/>
            <a:ext cx="34209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L’atribut </a:t>
            </a:r>
            <a:r>
              <a:rPr b="1" lang="ca"/>
              <a:t>src </a:t>
            </a:r>
            <a:r>
              <a:rPr lang="ca"/>
              <a:t>(source) indica la ruta o URL del fitxer d'imatge — és obligatori.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a"/>
              <a:t>alt </a:t>
            </a:r>
            <a:r>
              <a:rPr lang="ca"/>
              <a:t>descriu la imatge: essencial per a l'accessibilitat i el SEO.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És un element buit: no porta etiqueta de tancament.</a:t>
            </a:r>
            <a:endParaRPr/>
          </a:p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Imatges</a:t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>
            <a:off x="4123675" y="1440000"/>
            <a:ext cx="4772400" cy="7674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4397524" y="1653666"/>
            <a:ext cx="422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350"/>
              <a:buFont typeface="Courier New"/>
              <a:buNone/>
            </a:pPr>
            <a:r>
              <a:rPr lang="ca" sz="1150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ca" sz="1150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ca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ca" sz="1150">
                <a:solidFill>
                  <a:srgbClr val="8FD3F4"/>
                </a:solidFill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ca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ca" sz="1150">
                <a:solidFill>
                  <a:srgbClr val="B7E6A6"/>
                </a:solidFill>
                <a:latin typeface="Courier New"/>
                <a:ea typeface="Courier New"/>
                <a:cs typeface="Courier New"/>
                <a:sym typeface="Courier New"/>
              </a:rPr>
              <a:t>"foto.jpg"</a:t>
            </a:r>
            <a:r>
              <a:rPr lang="ca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ca" sz="1150">
                <a:solidFill>
                  <a:srgbClr val="8FD3F4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ca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ca" sz="1150">
                <a:solidFill>
                  <a:srgbClr val="B7E6A6"/>
                </a:solidFill>
                <a:latin typeface="Courier New"/>
                <a:ea typeface="Courier New"/>
                <a:cs typeface="Courier New"/>
                <a:sym typeface="Courier New"/>
              </a:rPr>
              <a:t>"Cantimplora"</a:t>
            </a:r>
            <a:r>
              <a:rPr lang="ca" sz="1150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1200"/>
              <a:buFont typeface="Courier New"/>
              <a:buNone/>
            </a:pPr>
            <a:r>
              <a:t/>
            </a:r>
            <a:endParaRPr sz="1000">
              <a:solidFill>
                <a:srgbClr val="F1652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23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(img)</a:t>
            </a:r>
            <a:endParaRPr sz="2220"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4123675" y="2371900"/>
            <a:ext cx="47724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400"/>
              <a:t>És important respectar la ruta relativa en el SRC sinó no sortirà l a imatge. Si tenim aquesta estructura de carpetes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3675" y="3126600"/>
            <a:ext cx="1588047" cy="20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5816825" y="2990550"/>
            <a:ext cx="3271800" cy="16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400"/>
              <a:t>i des de  </a:t>
            </a:r>
            <a:r>
              <a:rPr lang="ca" sz="1400"/>
              <a:t>l’arxiu index.html volem mostrar la imatge </a:t>
            </a:r>
            <a:r>
              <a:rPr i="1" lang="ca" sz="1400"/>
              <a:t>lotr.webp</a:t>
            </a:r>
            <a:r>
              <a:rPr lang="ca" sz="1400"/>
              <a:t> haurem de fer:</a:t>
            </a:r>
            <a:endParaRPr sz="1400"/>
          </a:p>
          <a:p>
            <a:pPr indent="0" lvl="0" marL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150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ca" sz="1150">
                <a:solidFill>
                  <a:srgbClr val="F16529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ca" sz="115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ca" sz="1150">
                <a:solidFill>
                  <a:srgbClr val="8FD3F4"/>
                </a:solidFill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ca" sz="115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ca" sz="1150">
                <a:solidFill>
                  <a:srgbClr val="B7E6A6"/>
                </a:solidFill>
                <a:latin typeface="Courier New"/>
                <a:ea typeface="Courier New"/>
                <a:cs typeface="Courier New"/>
                <a:sym typeface="Courier New"/>
              </a:rPr>
              <a:t>"img/films/foto.jpg"</a:t>
            </a:r>
            <a:r>
              <a:rPr lang="ca" sz="115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ca" sz="1150">
                <a:solidFill>
                  <a:srgbClr val="8FD3F4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ca" sz="115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ca" sz="1150">
                <a:solidFill>
                  <a:srgbClr val="B7E6A6"/>
                </a:solidFill>
                <a:latin typeface="Courier New"/>
                <a:ea typeface="Courier New"/>
                <a:cs typeface="Courier New"/>
                <a:sym typeface="Courier New"/>
              </a:rPr>
              <a:t>"LOTR"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311700" y="1440000"/>
            <a:ext cx="42603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a"/>
              <a:t>L’etiqueta principal per les llistes no ordenades és la &lt;ul&gt;, per a cada element de la llista haurem de posar ul &lt;li&gt;.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ca"/>
              <a:t>Per a les llistes ordenades s’utilitza l’etiqueta &lt;ol&gt;</a:t>
            </a:r>
            <a:endParaRPr sz="1700"/>
          </a:p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Llistes ordenades i no ordenades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4739465" y="1440000"/>
            <a:ext cx="2582700" cy="35997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4572000" y="1653736"/>
            <a:ext cx="2582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&lt;!-- Llistes no ordenades --&gt;</a:t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Element 1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Element 2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Element 3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&lt;!-- Llistes ordenades --&gt;</a:t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Element 1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Element 2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Element 3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1652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Google Shape;188;p24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(lists)</a:t>
            </a:r>
            <a:endParaRPr sz="2220"/>
          </a:p>
        </p:txBody>
      </p:sp>
      <p:pic>
        <p:nvPicPr>
          <p:cNvPr id="189" name="Google Shape;189;p24"/>
          <p:cNvPicPr preferRelativeResize="0"/>
          <p:nvPr/>
        </p:nvPicPr>
        <p:blipFill rotWithShape="1">
          <a:blip r:embed="rId4">
            <a:alphaModFix/>
          </a:blip>
          <a:srcRect b="52647" l="0" r="0" t="0"/>
          <a:stretch/>
        </p:blipFill>
        <p:spPr>
          <a:xfrm>
            <a:off x="7504575" y="1573525"/>
            <a:ext cx="1517100" cy="11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 rotWithShape="1">
          <a:blip r:embed="rId4">
            <a:alphaModFix/>
          </a:blip>
          <a:srcRect b="0" l="0" r="0" t="50973"/>
          <a:stretch/>
        </p:blipFill>
        <p:spPr>
          <a:xfrm>
            <a:off x="7504575" y="3565430"/>
            <a:ext cx="1517100" cy="12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1825916" y="1337976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Contenidor de la taula sencera.</a:t>
            </a:r>
            <a:endParaRPr sz="1367"/>
          </a:p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Taules</a:t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477925" y="1337975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477925" y="1337975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477925" y="1962367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77925" y="1962367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b="1" sz="1119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477925" y="2586759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477925" y="2586759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&lt;th&gt;</a:t>
            </a:r>
            <a:endParaRPr b="1" sz="1119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477925" y="3211151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477925" y="3211151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endParaRPr b="1" sz="1119">
              <a:solidFill>
                <a:srgbClr val="0097A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1825916" y="1962374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ca" sz="1357"/>
              <a:t>Defineix una fila (table row).</a:t>
            </a:r>
            <a:endParaRPr sz="1357"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825916" y="2586771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Cel·la de capçalera, en negreta per defecte.</a:t>
            </a:r>
            <a:endParaRPr sz="1367"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1825916" y="3211169"/>
            <a:ext cx="55032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Cel·la de dades normal (table data).</a:t>
            </a:r>
            <a:endParaRPr sz="1367"/>
          </a:p>
        </p:txBody>
      </p:sp>
      <p:sp>
        <p:nvSpPr>
          <p:cNvPr id="209" name="Google Shape;209;p25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(tables)</a:t>
            </a:r>
            <a:endParaRPr sz="2220"/>
          </a:p>
        </p:txBody>
      </p:sp>
      <p:sp>
        <p:nvSpPr>
          <p:cNvPr id="210" name="Google Shape;210;p25"/>
          <p:cNvSpPr/>
          <p:nvPr/>
        </p:nvSpPr>
        <p:spPr>
          <a:xfrm>
            <a:off x="5988975" y="1157050"/>
            <a:ext cx="2987400" cy="35997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6096275" y="1401075"/>
            <a:ext cx="2796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Company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Contact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Alfreds Futterkiste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Maria Anders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Germany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Centro comercial Moctezuma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Francisco Chang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Mexico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25" y="3835563"/>
            <a:ext cx="5343601" cy="926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311825" y="1136850"/>
            <a:ext cx="86442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ca"/>
              <a:t>Els formularis ens serveixen per registrar dades o peticions de l’usuari.</a:t>
            </a:r>
            <a:endParaRPr/>
          </a:p>
        </p:txBody>
      </p:sp>
      <p:sp>
        <p:nvSpPr>
          <p:cNvPr id="219" name="Google Shape;219;p26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Forms</a:t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146165" y="1590675"/>
            <a:ext cx="5346900" cy="34539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210153" y="1700611"/>
            <a:ext cx="5346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"/enviar"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"post"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Nom: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placeholder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Correu electrònic: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"password"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Contrasenya: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"password"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"password"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"password"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"curs"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"curs"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"daw1"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DAW 1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"dam1"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DAM 1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"missatge"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Missatge: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"missatge"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"missatge"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"4"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"submit"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Enviar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(forms)</a:t>
            </a:r>
            <a:endParaRPr sz="2220"/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225" y="2279872"/>
            <a:ext cx="3271800" cy="2075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1825925" y="1267225"/>
            <a:ext cx="7006500" cy="5727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És el contenidor principal del formulari. Té dos atributs, action i method</a:t>
            </a:r>
            <a:endParaRPr sz="1367"/>
          </a:p>
          <a:p>
            <a:pPr indent="-31542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action: on s'envien les dades (una URL o un script del servidor).</a:t>
            </a:r>
            <a:endParaRPr sz="1367"/>
          </a:p>
          <a:p>
            <a:pPr indent="-31542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method: com s'envien — get (a la URL, visible) o post (al cos de la petició, més segur per a dades sensibles).</a:t>
            </a:r>
            <a:endParaRPr sz="1367"/>
          </a:p>
        </p:txBody>
      </p:sp>
      <p:sp>
        <p:nvSpPr>
          <p:cNvPr id="230" name="Google Shape;230;p27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Forms</a:t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477925" y="1337975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477925" y="1337975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477925" y="3308483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477925" y="3308483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&lt;label&gt;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>
            <p:ph idx="1" type="body"/>
          </p:nvPr>
        </p:nvSpPr>
        <p:spPr>
          <a:xfrm>
            <a:off x="1825927" y="3308492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Text descriptiu associat a un camp</a:t>
            </a:r>
            <a:endParaRPr sz="13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L'atribut </a:t>
            </a:r>
            <a:r>
              <a:rPr lang="ca" sz="1367">
                <a:highlight>
                  <a:srgbClr val="0097A7"/>
                </a:highlight>
              </a:rPr>
              <a:t>for</a:t>
            </a:r>
            <a:r>
              <a:rPr lang="ca" sz="1367"/>
              <a:t> ha de coincidir amb </a:t>
            </a:r>
            <a:r>
              <a:rPr lang="ca" sz="1367">
                <a:highlight>
                  <a:srgbClr val="0097A7"/>
                </a:highlight>
              </a:rPr>
              <a:t>l'id</a:t>
            </a:r>
            <a:r>
              <a:rPr lang="ca" sz="1367"/>
              <a:t> del camp, així clicar l'etiqueta activa el camp (millora usabilitat i accessibilitat).</a:t>
            </a:r>
            <a:endParaRPr sz="1367"/>
          </a:p>
        </p:txBody>
      </p:sp>
      <p:sp>
        <p:nvSpPr>
          <p:cNvPr id="236" name="Google Shape;236;p27"/>
          <p:cNvSpPr/>
          <p:nvPr/>
        </p:nvSpPr>
        <p:spPr>
          <a:xfrm>
            <a:off x="1841400" y="4395617"/>
            <a:ext cx="3951300" cy="5727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1983319" y="4434440"/>
            <a:ext cx="3698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Nom: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"nom"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1825925" y="2326700"/>
            <a:ext cx="3951300" cy="7998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1967844" y="2380923"/>
            <a:ext cx="3698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"/enviar"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"post"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>
              <a:solidFill>
                <a:srgbClr val="BBBE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27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(forms)</a:t>
            </a:r>
            <a:endParaRPr sz="22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1825925" y="1267225"/>
            <a:ext cx="7006500" cy="5727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És el camp més versàtil; canvia de comportament segons type: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text: Text lliure d'una línia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email: Valida format de correu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password: Amaga els caràcters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number: Només valors numèrics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date: Selector de data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checkbox: Casella de verificació (marcar/desmarcar)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radio: Botó d'opció (triar-ne un d'un grup)</a:t>
            </a:r>
            <a:endParaRPr sz="1367"/>
          </a:p>
          <a:p>
            <a:pPr indent="-3154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ca" sz="1367"/>
              <a:t>submit: Botó per enviar el formulari</a:t>
            </a:r>
            <a:endParaRPr sz="1367"/>
          </a:p>
        </p:txBody>
      </p:sp>
      <p:sp>
        <p:nvSpPr>
          <p:cNvPr id="247" name="Google Shape;247;p28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Forms</a:t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477925" y="1297554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77925" y="1297554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&lt;input&gt;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77925" y="3748744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477925" y="3748744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8"/>
          <p:cNvSpPr txBox="1"/>
          <p:nvPr>
            <p:ph idx="1" type="body"/>
          </p:nvPr>
        </p:nvSpPr>
        <p:spPr>
          <a:xfrm>
            <a:off x="1825927" y="3748753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Text lliure de diverses línies </a:t>
            </a:r>
            <a:endParaRPr sz="1367"/>
          </a:p>
        </p:txBody>
      </p:sp>
      <p:sp>
        <p:nvSpPr>
          <p:cNvPr id="253" name="Google Shape;253;p28"/>
          <p:cNvSpPr/>
          <p:nvPr/>
        </p:nvSpPr>
        <p:spPr>
          <a:xfrm>
            <a:off x="1841400" y="4179051"/>
            <a:ext cx="3951300" cy="3423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1983319" y="4222465"/>
            <a:ext cx="3698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"missatge"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"4"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28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(forms)</a:t>
            </a:r>
            <a:endParaRPr sz="22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1825925" y="1267225"/>
            <a:ext cx="7006500" cy="5727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Llista desplegable</a:t>
            </a:r>
            <a:endParaRPr sz="1367"/>
          </a:p>
        </p:txBody>
      </p:sp>
      <p:sp>
        <p:nvSpPr>
          <p:cNvPr id="262" name="Google Shape;262;p29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Forms</a:t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477925" y="1297546"/>
            <a:ext cx="1020900" cy="6990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477925" y="1297546"/>
            <a:ext cx="10209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&lt;select&gt; + &lt;option&gt;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477925" y="2950444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477925" y="2950444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1825927" y="2950453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Botó d'acció</a:t>
            </a:r>
            <a:endParaRPr sz="1367"/>
          </a:p>
        </p:txBody>
      </p:sp>
      <p:sp>
        <p:nvSpPr>
          <p:cNvPr id="268" name="Google Shape;268;p29"/>
          <p:cNvSpPr/>
          <p:nvPr/>
        </p:nvSpPr>
        <p:spPr>
          <a:xfrm>
            <a:off x="1841400" y="3380751"/>
            <a:ext cx="3951300" cy="3423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1983319" y="3424165"/>
            <a:ext cx="3698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"submit"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Enviar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29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(forms)</a:t>
            </a:r>
            <a:endParaRPr sz="2220"/>
          </a:p>
        </p:txBody>
      </p:sp>
      <p:sp>
        <p:nvSpPr>
          <p:cNvPr id="271" name="Google Shape;271;p29"/>
          <p:cNvSpPr/>
          <p:nvPr/>
        </p:nvSpPr>
        <p:spPr>
          <a:xfrm>
            <a:off x="1856875" y="1654250"/>
            <a:ext cx="3951300" cy="978900"/>
          </a:xfrm>
          <a:prstGeom prst="roundRect">
            <a:avLst>
              <a:gd fmla="val 8000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1998800" y="1733700"/>
            <a:ext cx="369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25" spcFirstLastPara="1" rIns="81225" wrap="square" tIns="406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"curs"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"daw"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DAW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ca" sz="105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"dam"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ca" sz="10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DAM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ca" sz="1050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ca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 txBox="1"/>
          <p:nvPr>
            <p:ph idx="1" type="body"/>
          </p:nvPr>
        </p:nvSpPr>
        <p:spPr>
          <a:xfrm>
            <a:off x="311700" y="1440000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Fins ara hem definit camps que ens mostraran la informació, ara veurem les etiquetes que poden definir les diferents zones del layout.</a:t>
            </a:r>
            <a:endParaRPr/>
          </a:p>
        </p:txBody>
      </p:sp>
      <p:sp>
        <p:nvSpPr>
          <p:cNvPr id="279" name="Google Shape;279;p30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Layout</a:t>
            </a:r>
            <a:endParaRPr/>
          </a:p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1742875" y="2630708"/>
            <a:ext cx="7006500" cy="20169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El &lt;div&gt; (divisió)  és probablement l'etiqueta més utilitzada d'HTML, però també la que costa més d'entendre al principi perquè no fa res per si sola.</a:t>
            </a:r>
            <a:endParaRPr sz="1367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ca" sz="1367"/>
              <a:t>És un contenidor genèric de bloc que serveix per agrupar altres elements, però no té cap significat semàntic: no li diu al navegador ni als lectors de pantalla "això és una navegació" o "això és una capçalera" — només diu "aquí hi ha un grup de coses".</a:t>
            </a:r>
            <a:endParaRPr sz="1367"/>
          </a:p>
        </p:txBody>
      </p:sp>
      <p:sp>
        <p:nvSpPr>
          <p:cNvPr id="281" name="Google Shape;281;p30"/>
          <p:cNvSpPr/>
          <p:nvPr/>
        </p:nvSpPr>
        <p:spPr>
          <a:xfrm>
            <a:off x="394875" y="2698682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394875" y="2698682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(layout)</a:t>
            </a:r>
            <a:endParaRPr sz="22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 txBox="1"/>
          <p:nvPr>
            <p:ph idx="1" type="body"/>
          </p:nvPr>
        </p:nvSpPr>
        <p:spPr>
          <a:xfrm>
            <a:off x="1825937" y="1269939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Capçalera. Conté el logotip, el títol o la navegació principal. Sol anar a dalt de la pàgina (o d'una secció).</a:t>
            </a:r>
            <a:endParaRPr sz="1367"/>
          </a:p>
        </p:txBody>
      </p:sp>
      <p:sp>
        <p:nvSpPr>
          <p:cNvPr id="290" name="Google Shape;290;p31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Layout</a:t>
            </a:r>
            <a:endParaRPr/>
          </a:p>
        </p:txBody>
      </p:sp>
      <p:sp>
        <p:nvSpPr>
          <p:cNvPr id="291" name="Google Shape;291;p31"/>
          <p:cNvSpPr/>
          <p:nvPr/>
        </p:nvSpPr>
        <p:spPr>
          <a:xfrm>
            <a:off x="477925" y="1337975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477925" y="1337975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&lt;header&gt;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477925" y="1894331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477925" y="1894331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&lt;nav&gt;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477925" y="2450688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477925" y="2450688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&lt;main&gt;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477925" y="3007044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477925" y="3007044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&lt;section&gt;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477925" y="3563400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477925" y="3563400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&lt;article&gt;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 txBox="1"/>
          <p:nvPr>
            <p:ph idx="1" type="body"/>
          </p:nvPr>
        </p:nvSpPr>
        <p:spPr>
          <a:xfrm>
            <a:off x="1825925" y="1894339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ca" sz="1357"/>
              <a:t>Navegació: Agrupa els enllaços principals de navegació en un &lt;ul&gt;&lt;li&gt;.</a:t>
            </a:r>
            <a:endParaRPr sz="1357"/>
          </a:p>
        </p:txBody>
      </p:sp>
      <p:sp>
        <p:nvSpPr>
          <p:cNvPr id="302" name="Google Shape;302;p31"/>
          <p:cNvSpPr txBox="1"/>
          <p:nvPr>
            <p:ph idx="1" type="body"/>
          </p:nvPr>
        </p:nvSpPr>
        <p:spPr>
          <a:xfrm>
            <a:off x="1825925" y="2450703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El contingut únic i central de la pàgina. Només n'hi ha d'haver un per pàgina.</a:t>
            </a:r>
            <a:endParaRPr sz="1367"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1825925" y="2898209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S</a:t>
            </a:r>
            <a:r>
              <a:rPr lang="ca" sz="1367"/>
              <a:t>ecció temàtica: </a:t>
            </a:r>
            <a:r>
              <a:rPr lang="ca" sz="1367"/>
              <a:t>Agrupa contingut relacionat sota un mateix tema, normalment amb el seu propi títol (&lt;h2&gt;, &lt;h3&gt;...).</a:t>
            </a:r>
            <a:endParaRPr sz="1367"/>
          </a:p>
        </p:txBody>
      </p:sp>
      <p:sp>
        <p:nvSpPr>
          <p:cNvPr id="304" name="Google Shape;304;p31"/>
          <p:cNvSpPr txBox="1"/>
          <p:nvPr>
            <p:ph idx="1" type="body"/>
          </p:nvPr>
        </p:nvSpPr>
        <p:spPr>
          <a:xfrm>
            <a:off x="1825934" y="3468565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Contingut autònom: Un bloc que té sentit per si sol, independent de la resta (una notícia, un post de blog, un comentari).</a:t>
            </a:r>
            <a:endParaRPr sz="1367"/>
          </a:p>
        </p:txBody>
      </p:sp>
      <p:sp>
        <p:nvSpPr>
          <p:cNvPr id="305" name="Google Shape;305;p31"/>
          <p:cNvSpPr/>
          <p:nvPr/>
        </p:nvSpPr>
        <p:spPr>
          <a:xfrm>
            <a:off x="477925" y="4119790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477925" y="4119790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&lt;aside&gt;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1825925" y="4092607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Informació relacionada però no essencial: una barra lateral, publicitat, enllaços relacionats.</a:t>
            </a:r>
            <a:endParaRPr sz="1367"/>
          </a:p>
        </p:txBody>
      </p:sp>
      <p:sp>
        <p:nvSpPr>
          <p:cNvPr id="308" name="Google Shape;308;p31"/>
          <p:cNvSpPr/>
          <p:nvPr/>
        </p:nvSpPr>
        <p:spPr>
          <a:xfrm>
            <a:off x="477925" y="4676190"/>
            <a:ext cx="1020900" cy="342300"/>
          </a:xfrm>
          <a:prstGeom prst="roundRect">
            <a:avLst>
              <a:gd fmla="val 14025" name="adj"/>
            </a:avLst>
          </a:prstGeom>
          <a:solidFill>
            <a:srgbClr val="1B1F27"/>
          </a:solidFill>
          <a:ln cap="flat" cmpd="sng" w="8350">
            <a:solidFill>
              <a:srgbClr val="30E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477925" y="4676190"/>
            <a:ext cx="1020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60025" spcFirstLastPara="1" rIns="60025" wrap="square" tIns="3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6529"/>
              </a:buClr>
              <a:buSzPts val="919"/>
              <a:buFont typeface="Courier New"/>
              <a:buNone/>
            </a:pP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footer</a:t>
            </a:r>
            <a:r>
              <a:rPr b="1" lang="ca" sz="1119">
                <a:solidFill>
                  <a:srgbClr val="0097A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19" u="none" cap="none" strike="noStrike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1825925" y="4580971"/>
            <a:ext cx="7006500" cy="342300"/>
          </a:xfrm>
          <a:prstGeom prst="rect">
            <a:avLst/>
          </a:prstGeom>
        </p:spPr>
        <p:txBody>
          <a:bodyPr anchorCtr="0" anchor="t" bIns="76225" lIns="76225" spcFirstLastPara="1" rIns="76225" wrap="square" tIns="7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67"/>
              <a:t>Informació de tancament: copyright, enllaços legals, contacte. Pot anar al final de la pàgina o d'una secció.</a:t>
            </a:r>
            <a:endParaRPr sz="1367"/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(layout)</a:t>
            </a:r>
            <a:endParaRPr sz="22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"/>
          <p:cNvSpPr txBox="1"/>
          <p:nvPr>
            <p:ph idx="1" type="body"/>
          </p:nvPr>
        </p:nvSpPr>
        <p:spPr>
          <a:xfrm>
            <a:off x="311700" y="1440000"/>
            <a:ext cx="85206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Per què no fer-ho tot amb &lt;div&gt;?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Accessibilitat: els lectors de pantalla poden saltar directament a &lt;nav&gt; o &lt;main&gt;.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SEO: els cercadors entenen millor l'estructura del contingut.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a"/>
              <a:t>Llegibilitat del codi: &lt;article&gt; diu més que &lt;div class="article"&gt;.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/>
              <a:t>&lt;div&gt;</a:t>
            </a:r>
            <a:r>
              <a:rPr lang="ca"/>
              <a:t> encara s'utilitza, però només per a agrupacions sense significat semàntic (per exemple, un contenidor purament per aplicar-hi estils CSS).</a:t>
            </a:r>
            <a:endParaRPr/>
          </a:p>
        </p:txBody>
      </p:sp>
      <p:sp>
        <p:nvSpPr>
          <p:cNvPr id="318" name="Google Shape;318;p32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Layout</a:t>
            </a:r>
            <a:endParaRPr/>
          </a:p>
        </p:txBody>
      </p:sp>
      <p:sp>
        <p:nvSpPr>
          <p:cNvPr id="319" name="Google Shape;319;p32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(layout)</a:t>
            </a:r>
            <a:endParaRPr sz="22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311700" y="1440000"/>
            <a:ext cx="85206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Si existeix una etiqueta semàntica que descriu millor el contingut, és millor fer-la servir:</a:t>
            </a:r>
            <a:endParaRPr/>
          </a:p>
        </p:txBody>
      </p:sp>
      <p:sp>
        <p:nvSpPr>
          <p:cNvPr id="326" name="Google Shape;326;p33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Layout</a:t>
            </a:r>
            <a:endParaRPr/>
          </a:p>
        </p:txBody>
      </p:sp>
      <p:graphicFrame>
        <p:nvGraphicFramePr>
          <p:cNvPr id="327" name="Google Shape;327;p33"/>
          <p:cNvGraphicFramePr/>
          <p:nvPr/>
        </p:nvGraphicFramePr>
        <p:xfrm>
          <a:off x="438125" y="245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{69E7EC61-2CCD-4BAE-9502-7F360FFDC918}</a:tableStyleId>
              </a:tblPr>
              <a:tblGrid>
                <a:gridCol w="3061700"/>
                <a:gridCol w="22559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chemeClr val="dk1"/>
                          </a:solidFill>
                        </a:rPr>
                        <a:t>En lloc de...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chemeClr val="dk1"/>
                          </a:solidFill>
                        </a:rPr>
                        <a:t>Millor fer servir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&lt;div class="header"&gt;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&lt;header&gt;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&lt;div class="nav"&gt;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&lt;nav&gt;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&lt;div class="footer"&gt;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&lt;footer&gt;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&lt;div class="noticia"&gt;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&lt;article&gt;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0EF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33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(layout)</a:t>
            </a:r>
            <a:endParaRPr sz="22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"/>
          <p:cNvSpPr/>
          <p:nvPr/>
        </p:nvSpPr>
        <p:spPr>
          <a:xfrm>
            <a:off x="7071300" y="3126600"/>
            <a:ext cx="2072700" cy="2016900"/>
          </a:xfrm>
          <a:prstGeom prst="roundRect">
            <a:avLst>
              <a:gd fmla="val 2985" name="adj"/>
            </a:avLst>
          </a:prstGeom>
          <a:solidFill>
            <a:srgbClr val="2F29A1"/>
          </a:solidFill>
          <a:ln cap="flat" cmpd="sng" w="9525">
            <a:solidFill>
              <a:srgbClr val="2F2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>
            <p:ph type="title"/>
          </p:nvPr>
        </p:nvSpPr>
        <p:spPr>
          <a:xfrm>
            <a:off x="311825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Etiquetes. Layout</a:t>
            </a:r>
            <a:endParaRPr/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5560700" y="207750"/>
            <a:ext cx="327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220" u="sng">
                <a:solidFill>
                  <a:schemeClr val="hlink"/>
                </a:solidFill>
                <a:hlinkClick r:id="rId3"/>
              </a:rPr>
              <a:t>W3 (layout)</a:t>
            </a:r>
            <a:endParaRPr sz="2220"/>
          </a:p>
        </p:txBody>
      </p:sp>
      <p:pic>
        <p:nvPicPr>
          <p:cNvPr id="336" name="Google Shape;3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638" y="1189600"/>
            <a:ext cx="4934725" cy="37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TICBCN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